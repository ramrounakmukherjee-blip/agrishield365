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97" r:id="rId3"/>
    <p:sldId id="290" r:id="rId4"/>
    <p:sldId id="298" r:id="rId5"/>
    <p:sldId id="256" r:id="rId6"/>
    <p:sldId id="299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10000"/>
    <a:srgbClr val="96BC9D"/>
    <a:srgbClr val="83AF8B"/>
    <a:srgbClr val="323232"/>
    <a:srgbClr val="9BBB59"/>
    <a:srgbClr val="39B0D4"/>
    <a:srgbClr val="727272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76" autoAdjust="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684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1920084762004908"/>
          <c:y val="1.7427298298064086E-3"/>
          <c:w val="0.68079915237995092"/>
          <c:h val="0.8931914007451318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Today</c:v>
                </c:pt>
              </c:strCache>
            </c:strRef>
          </c:tx>
          <c:spPr>
            <a:solidFill>
              <a:srgbClr val="9AA8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A24"/>
                    </a:solidFill>
                    <a:latin typeface="Times New Roman" pitchFamily="18" charset="0"/>
                    <a:cs typeface="Times New Roman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Pest yield loss (%)</c:v>
                </c:pt>
                <c:pt idx="1">
                  <c:v>Irrigation water wasted (%)</c:v>
                </c:pt>
                <c:pt idx="2">
                  <c:v>Storm/flood lead time (days)</c:v>
                </c:pt>
                <c:pt idx="3">
                  <c:v>Local-language advisory reach (%)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1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DB-444C-9CEC-E1279F1885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AgriShield 365</c:v>
                </c:pt>
              </c:strCache>
            </c:strRef>
          </c:tx>
          <c:spPr>
            <a:solidFill>
              <a:srgbClr val="1E7F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A24"/>
                    </a:solidFill>
                    <a:latin typeface="Times New Roman" pitchFamily="18" charset="0"/>
                    <a:cs typeface="Times New Roman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Pest yield loss (%)</c:v>
                </c:pt>
                <c:pt idx="1">
                  <c:v>Irrigation water wasted (%)</c:v>
                </c:pt>
                <c:pt idx="2">
                  <c:v>Storm/flood lead time (days)</c:v>
                </c:pt>
                <c:pt idx="3">
                  <c:v>Local-language advisory reach (%)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8</c:v>
                </c:pt>
                <c:pt idx="2">
                  <c:v>4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DB-444C-9CEC-E1279F1885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76302592"/>
        <c:axId val="76382208"/>
      </c:barChart>
      <c:catAx>
        <c:axId val="76302592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A24"/>
                </a:solidFill>
                <a:latin typeface="Times New Roman" pitchFamily="18" charset="0"/>
                <a:cs typeface="Times New Roman" pitchFamily="18" charset="0"/>
              </a:defRPr>
            </a:pPr>
            <a:endParaRPr lang="en-US"/>
          </a:p>
        </c:txPr>
        <c:crossAx val="76382208"/>
        <c:crosses val="autoZero"/>
        <c:auto val="1"/>
        <c:lblAlgn val="ctr"/>
        <c:lblOffset val="100"/>
        <c:noMultiLvlLbl val="1"/>
      </c:catAx>
      <c:valAx>
        <c:axId val="76382208"/>
        <c:scaling>
          <c:orientation val="minMax"/>
          <c:max val="112"/>
        </c:scaling>
        <c:delete val="1"/>
        <c:axPos val="t"/>
        <c:numFmt formatCode="General" sourceLinked="0"/>
        <c:majorTickMark val="out"/>
        <c:minorTickMark val="none"/>
        <c:tickLblPos val="low"/>
        <c:crossAx val="76302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6162947463635534"/>
          <c:y val="0.89728934050698628"/>
          <c:w val="0.42702213594046601"/>
          <c:h val="7.734993239041256E-2"/>
        </c:manualLayout>
      </c:layout>
      <c:overlay val="0"/>
      <c:txPr>
        <a:bodyPr/>
        <a:lstStyle/>
        <a:p>
          <a:pPr>
            <a:defRPr sz="1400">
              <a:latin typeface="Times New Roman" pitchFamily="18" charset="0"/>
              <a:cs typeface="Times New Roman" pitchFamily="18" charset="0"/>
            </a:defRPr>
          </a:pPr>
          <a:endParaRPr lang="en-US"/>
        </a:p>
      </c:txPr>
    </c:legend>
    <c:plotVisOnly val="1"/>
    <c:dispBlanksAs val="span"/>
    <c:showDLblsOverMax val="0"/>
  </c:chart>
  <c:spPr>
    <a:solidFill>
      <a:schemeClr val="bg2">
        <a:lumMod val="90000"/>
      </a:scheme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523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12" Type="http://schemas.openxmlformats.org/officeDocument/2006/relationships/image" Target="../media/image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jpeg"/><Relationship Id="rId11" Type="http://schemas.openxmlformats.org/officeDocument/2006/relationships/image" Target="../media/image7.jpeg"/><Relationship Id="rId5" Type="http://schemas.openxmlformats.org/officeDocument/2006/relationships/image" Target="../media/image3.png"/><Relationship Id="rId10" Type="http://schemas.openxmlformats.org/officeDocument/2006/relationships/hyperlink" Target="https://youtu.be/tJPDBoMmfGI" TargetMode="External"/><Relationship Id="rId4" Type="http://schemas.openxmlformats.org/officeDocument/2006/relationships/notesSlide" Target="../notesSlides/notesSlide1.xml"/><Relationship Id="rId9" Type="http://schemas.openxmlformats.org/officeDocument/2006/relationships/hyperlink" Target="https://agrishield365.web.app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10" Type="http://schemas.openxmlformats.org/officeDocument/2006/relationships/image" Target="../media/image15.jpe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12" Type="http://schemas.openxmlformats.org/officeDocument/2006/relationships/image" Target="../media/image24.jpeg"/><Relationship Id="rId17" Type="http://schemas.openxmlformats.org/officeDocument/2006/relationships/image" Target="../media/image29.wmf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jpe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8.jpe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12" Type="http://schemas.openxmlformats.org/officeDocument/2006/relationships/image" Target="../media/image3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.xml"/><Relationship Id="rId11" Type="http://schemas.openxmlformats.org/officeDocument/2006/relationships/image" Target="../media/image3.png"/><Relationship Id="rId5" Type="http://schemas.openxmlformats.org/officeDocument/2006/relationships/image" Target="../media/image32.png"/><Relationship Id="rId10" Type="http://schemas.openxmlformats.org/officeDocument/2006/relationships/image" Target="../media/image36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49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hyperlink" Target="https://youtu.be/a5vdY3kb6ZQ" TargetMode="External"/><Relationship Id="rId2" Type="http://schemas.openxmlformats.org/officeDocument/2006/relationships/video" Target="../media/media2.mp4"/><Relationship Id="rId16" Type="http://schemas.openxmlformats.org/officeDocument/2006/relationships/image" Target="../media/image48.jpeg"/><Relationship Id="rId1" Type="http://schemas.microsoft.com/office/2007/relationships/media" Target="../media/media2.mp4"/><Relationship Id="rId6" Type="http://schemas.openxmlformats.org/officeDocument/2006/relationships/image" Target="../media/image39.jpeg"/><Relationship Id="rId11" Type="http://schemas.openxmlformats.org/officeDocument/2006/relationships/image" Target="../media/image44.png"/><Relationship Id="rId5" Type="http://schemas.openxmlformats.org/officeDocument/2006/relationships/image" Target="../media/image3.png"/><Relationship Id="rId15" Type="http://schemas.openxmlformats.org/officeDocument/2006/relationships/image" Target="../media/image47.png"/><Relationship Id="rId10" Type="http://schemas.openxmlformats.org/officeDocument/2006/relationships/image" Target="../media/image43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42.png"/><Relationship Id="rId14" Type="http://schemas.openxmlformats.org/officeDocument/2006/relationships/hyperlink" Target="https://docs.google.com/document/d/12EoHv-kmXrN7Ubei2lQQ972usTdcUed9/edit?usp=sharing&amp;ouid=105708397499206098346&amp;rtpof=true&amp;sd=tr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323850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70443" y="-458713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078" y="1028204"/>
            <a:ext cx="7292402" cy="5525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 Narrow" panose="020B060602020203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400" b="1" dirty="0">
                <a:latin typeface="Arial Narrow" panose="020B0606020202030204" pitchFamily="34" charset="0"/>
                <a:cs typeface="Arial" panose="020B0604020202020204" pitchFamily="34" charset="0"/>
              </a:rPr>
              <a:t>– SIH26131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 Narrow" panose="020B0606020202030204" pitchFamily="34" charset="0"/>
                <a:cs typeface="Arial" panose="020B0604020202020204" pitchFamily="34" charset="0"/>
              </a:rPr>
              <a:t>Problem Statement Title </a:t>
            </a:r>
            <a:r>
              <a:rPr lang="en-US" sz="2400" b="1" dirty="0">
                <a:latin typeface="Arial Narrow" panose="020B0606020202030204" pitchFamily="34" charset="0"/>
                <a:cs typeface="Arial" panose="020B0604020202020204" pitchFamily="34" charset="0"/>
              </a:rPr>
              <a:t>- Early detection and management of crop diseases and pest infestations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 Narrow" panose="020B0606020202030204" pitchFamily="34" charset="0"/>
                <a:cs typeface="Arial" panose="020B0604020202020204" pitchFamily="34" charset="0"/>
              </a:rPr>
              <a:t>Theme </a:t>
            </a:r>
            <a:r>
              <a:rPr lang="en-US" sz="2400" b="1" dirty="0">
                <a:latin typeface="Arial Narrow" panose="020B0606020202030204" pitchFamily="34" charset="0"/>
                <a:cs typeface="Arial" panose="020B0604020202020204" pitchFamily="34" charset="0"/>
              </a:rPr>
              <a:t>– </a:t>
            </a:r>
            <a:r>
              <a:rPr lang="en-AU" sz="2400" b="1" dirty="0">
                <a:latin typeface="Arial Narrow" panose="020B0606020202030204" pitchFamily="34" charset="0"/>
                <a:cs typeface="Arial" panose="020B0604020202020204" pitchFamily="34" charset="0"/>
              </a:rPr>
              <a:t>Agriculture ,Food Tech &amp; Rural Development</a:t>
            </a:r>
            <a:endParaRPr lang="en-US" sz="24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 Narrow" panose="020B0606020202030204" pitchFamily="34" charset="0"/>
                <a:cs typeface="Arial" panose="020B0604020202020204" pitchFamily="34" charset="0"/>
              </a:rPr>
              <a:t>PS Category </a:t>
            </a:r>
            <a:r>
              <a:rPr lang="en-US" sz="2400" b="1" dirty="0">
                <a:latin typeface="Arial Narrow" panose="020B0606020202030204" pitchFamily="34" charset="0"/>
                <a:cs typeface="Arial" panose="020B0604020202020204" pitchFamily="34" charset="0"/>
              </a:rPr>
              <a:t>- Software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 Narrow" panose="020B0606020202030204" pitchFamily="34" charset="0"/>
                <a:cs typeface="Arial" panose="020B0604020202020204" pitchFamily="34" charset="0"/>
              </a:rPr>
              <a:t>Team ID </a:t>
            </a:r>
            <a:r>
              <a:rPr lang="en-US" sz="2400" b="1" dirty="0">
                <a:latin typeface="Arial Narrow" panose="020B0606020202030204" pitchFamily="34" charset="0"/>
                <a:cs typeface="Arial" panose="020B0604020202020204" pitchFamily="34" charset="0"/>
              </a:rPr>
              <a:t>- 166880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 Narrow" panose="020B0606020202030204" pitchFamily="34" charset="0"/>
                <a:cs typeface="Arial" panose="020B0604020202020204" pitchFamily="34" charset="0"/>
              </a:rPr>
              <a:t>Team Name </a:t>
            </a:r>
            <a:r>
              <a:rPr lang="en-US" sz="2400" b="1" dirty="0">
                <a:latin typeface="Arial Narrow" panose="020B0606020202030204" pitchFamily="34" charset="0"/>
                <a:cs typeface="Arial" panose="020B0604020202020204" pitchFamily="34" charset="0"/>
              </a:rPr>
              <a:t>(Registered on portal) -  RAVEN ROOTS</a:t>
            </a:r>
            <a:endParaRPr lang="en-IN" sz="24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40676" y="-679647"/>
            <a:ext cx="5372745" cy="1362293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2800" b="1" u="sng" dirty="0">
              <a:solidFill>
                <a:srgbClr val="FF0000"/>
              </a:solidFill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392393" y="6338217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5319" y="115798"/>
            <a:ext cx="1446311" cy="94378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DBE14E-5111-D3AD-044F-03E4CED0E76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842" y="246458"/>
            <a:ext cx="859263" cy="7118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D3D08B-5E4C-7C2B-7432-A6B24BE45BE6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2200" y="1397747"/>
            <a:ext cx="4318845" cy="4325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7913BE-8961-46A5-5DB2-02DBB85A60DC}"/>
              </a:ext>
            </a:extLst>
          </p:cNvPr>
          <p:cNvSpPr txBox="1"/>
          <p:nvPr/>
        </p:nvSpPr>
        <p:spPr>
          <a:xfrm>
            <a:off x="7990413" y="946577"/>
            <a:ext cx="40185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rgbClr val="FF0000"/>
                </a:solidFill>
                <a:latin typeface="Georgia" panose="02040502050405020303" pitchFamily="18" charset="0"/>
              </a:rPr>
              <a:t>SERVICES for our Farmer’s benefits </a:t>
            </a:r>
            <a:endParaRPr lang="en-AU" sz="2000" b="1" u="sng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78C44E-50AD-1D93-5773-5B0B190FA861}"/>
              </a:ext>
            </a:extLst>
          </p:cNvPr>
          <p:cNvSpPr txBox="1"/>
          <p:nvPr/>
        </p:nvSpPr>
        <p:spPr>
          <a:xfrm>
            <a:off x="3997210" y="-31851"/>
            <a:ext cx="8068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AGRISHIELD 365</a:t>
            </a:r>
            <a:endParaRPr lang="en-AU" sz="2800" b="1" u="sng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BF3117-A1D6-E5C5-360D-A2E2B157B058}"/>
              </a:ext>
            </a:extLst>
          </p:cNvPr>
          <p:cNvSpPr txBox="1"/>
          <p:nvPr/>
        </p:nvSpPr>
        <p:spPr>
          <a:xfrm>
            <a:off x="216350" y="925239"/>
            <a:ext cx="7693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FF0000"/>
                </a:solidFill>
                <a:latin typeface="Georgia" panose="02040502050405020303" pitchFamily="18" charset="0"/>
              </a:rPr>
              <a:t>Solution Mechanics: How It Solves the Problem</a:t>
            </a:r>
            <a:endParaRPr lang="en-AU" b="1" u="sng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A575BD-9D53-02B0-5BA5-DBB86CF0E67F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05011" y="5313495"/>
            <a:ext cx="1261385" cy="154300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C1F8D97-360A-744E-FE05-336DFEFDD1DE}"/>
              </a:ext>
            </a:extLst>
          </p:cNvPr>
          <p:cNvSpPr txBox="1"/>
          <p:nvPr/>
        </p:nvSpPr>
        <p:spPr>
          <a:xfrm>
            <a:off x="10951707" y="5139750"/>
            <a:ext cx="1261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u="sng" dirty="0">
                <a:solidFill>
                  <a:srgbClr val="323232"/>
                </a:solidFill>
                <a:latin typeface="Georgia" panose="02040502050405020303" pitchFamily="18" charset="0"/>
              </a:rPr>
              <a:t>Scan </a:t>
            </a:r>
            <a:r>
              <a:rPr lang="en-US" sz="2000" b="1" dirty="0">
                <a:solidFill>
                  <a:srgbClr val="323232"/>
                </a:solidFill>
                <a:latin typeface="Georgia" panose="02040502050405020303" pitchFamily="18" charset="0"/>
              </a:rPr>
              <a:t>👍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966FA5-9605-8E26-4339-598926907CE2}"/>
              </a:ext>
            </a:extLst>
          </p:cNvPr>
          <p:cNvSpPr txBox="1"/>
          <p:nvPr/>
        </p:nvSpPr>
        <p:spPr>
          <a:xfrm>
            <a:off x="20955" y="1304561"/>
            <a:ext cx="796945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Arial Black" panose="020B0A04020102020204" pitchFamily="34" charset="0"/>
              </a:rPr>
              <a:t>Brief Walkthrough of Problem and how AgriShield-365 solve it </a:t>
            </a:r>
            <a:endParaRPr lang="en-AU" b="1" u="sng" dirty="0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8EF062-B924-F11A-B65E-D810629C8D1F}"/>
              </a:ext>
            </a:extLst>
          </p:cNvPr>
          <p:cNvSpPr txBox="1"/>
          <p:nvPr/>
        </p:nvSpPr>
        <p:spPr>
          <a:xfrm>
            <a:off x="7852200" y="5358255"/>
            <a:ext cx="32440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  <a:latin typeface="Bodoni MT Black" panose="02070A03080606020203" pitchFamily="18" charset="0"/>
              </a:rPr>
              <a:t>Live App Link </a:t>
            </a:r>
            <a:r>
              <a:rPr lang="en-US" dirty="0"/>
              <a:t>:- </a:t>
            </a:r>
            <a:r>
              <a:rPr lang="en-US" dirty="0">
                <a:hlinkClick r:id="rId9"/>
              </a:rPr>
              <a:t>https://agrishield365.web.app/</a:t>
            </a:r>
            <a:r>
              <a:rPr lang="en-US" dirty="0"/>
              <a:t>  </a:t>
            </a:r>
            <a:r>
              <a:rPr lang="en-US" b="1" u="sng" dirty="0">
                <a:solidFill>
                  <a:srgbClr val="FF0000"/>
                </a:solidFill>
                <a:latin typeface="Bodoni MT Black" panose="02070A03080606020203" pitchFamily="18" charset="0"/>
              </a:rPr>
              <a:t>YouTube Video Link </a:t>
            </a:r>
            <a:r>
              <a:rPr lang="en-US" dirty="0"/>
              <a:t>:- </a:t>
            </a:r>
            <a:r>
              <a:rPr lang="en-US" dirty="0">
                <a:hlinkClick r:id="rId10"/>
              </a:rPr>
              <a:t>https://youtu.be/tJPDBoMmfGI</a:t>
            </a:r>
            <a:r>
              <a:rPr lang="en-US" dirty="0"/>
              <a:t>   (</a:t>
            </a:r>
            <a:r>
              <a:rPr lang="en-US" b="1" u="sng" dirty="0">
                <a:solidFill>
                  <a:srgbClr val="7030A0"/>
                </a:solidFill>
              </a:rPr>
              <a:t>Full Detailed Walkthrough</a:t>
            </a:r>
            <a:r>
              <a:rPr lang="en-US" dirty="0"/>
              <a:t>)</a:t>
            </a: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E008FA-723F-8CD7-FBED-86188619AB89}"/>
              </a:ext>
            </a:extLst>
          </p:cNvPr>
          <p:cNvSpPr txBox="1"/>
          <p:nvPr/>
        </p:nvSpPr>
        <p:spPr>
          <a:xfrm>
            <a:off x="2091385" y="347770"/>
            <a:ext cx="7526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Farmer, Every Season , Protected</a:t>
            </a:r>
            <a:endParaRPr lang="en-IN" sz="3200" dirty="0">
              <a:solidFill>
                <a:srgbClr val="7030A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70201-C88E-497D-29B0-3821E5237F57}"/>
              </a:ext>
            </a:extLst>
          </p:cNvPr>
          <p:cNvSpPr/>
          <p:nvPr/>
        </p:nvSpPr>
        <p:spPr>
          <a:xfrm>
            <a:off x="75199" y="4944533"/>
            <a:ext cx="7634789" cy="191346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Preventive, not Reactive (Predicts future in place of waiting for it) </a:t>
            </a:r>
            <a:br>
              <a:rPr lang="en-US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Two-Brain Architecture(Local + cloud brain) </a:t>
            </a:r>
            <a:br>
              <a:rPr lang="en-US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Offline-first farmer safety (PWA first priority)</a:t>
            </a:r>
            <a:br>
              <a:rPr lang="en-US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 Multi-lingual and farmer first design </a:t>
            </a:r>
            <a:br>
              <a:rPr lang="en-US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 Smart irrigation with crop science (Jal-Rakshak Module)</a:t>
            </a:r>
            <a:br>
              <a:rPr lang="en-US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6) Market awareness included </a:t>
            </a:r>
            <a:br>
              <a:rPr lang="en-US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7) Explainable advisories (Doesn’t just say ‘high risk’ , it explains why 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98503D-9D7C-7DBD-9C22-0AF0603875D2}"/>
              </a:ext>
            </a:extLst>
          </p:cNvPr>
          <p:cNvSpPr/>
          <p:nvPr/>
        </p:nvSpPr>
        <p:spPr>
          <a:xfrm>
            <a:off x="72382" y="4562444"/>
            <a:ext cx="7634789" cy="3579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Uniqueness of AGRISHIELD-365</a:t>
            </a:r>
            <a:endParaRPr lang="en-AU" b="1" u="sng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 19" descr="preencoded.png">
            <a:extLst>
              <a:ext uri="{FF2B5EF4-FFF2-40B4-BE49-F238E27FC236}">
                <a16:creationId xmlns:a16="http://schemas.microsoft.com/office/drawing/2014/main" id="{5FE2FB9A-11AE-B44A-E19F-D8F92385395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13431" y="4591811"/>
            <a:ext cx="824169" cy="813103"/>
          </a:xfrm>
          <a:prstGeom prst="rect">
            <a:avLst/>
          </a:prstGeom>
        </p:spPr>
      </p:pic>
      <p:pic>
        <p:nvPicPr>
          <p:cNvPr id="5" name="video-project-8_6ynBqhbG">
            <a:hlinkClick r:id="" action="ppaction://media"/>
            <a:extLst>
              <a:ext uri="{FF2B5EF4-FFF2-40B4-BE49-F238E27FC236}">
                <a16:creationId xmlns:a16="http://schemas.microsoft.com/office/drawing/2014/main" id="{A8ECFBF6-A9FD-2682-496A-4F5AA69319D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31207.3415"/>
                    <p14:bmk name="Bookmark 2" time="48006.9863"/>
                    <p14:bmk name="Bookmark 3" time="52455.9297"/>
                    <p14:bmk name="Bookmark 4" time="58613.5426"/>
                    <p14:bmk name="Bookmark 5" time="65208.4435"/>
                    <p14:bmk name="Bookmark 6" time="73430.144"/>
                    <p14:bmk name="Bookmark 7" time="76448.985"/>
                    <p14:bmk name="Bookmark 8" time="81958.2479"/>
                    <p14:bmk name="Bookmark 9" time="83751.2913"/>
                    <p14:bmk name="Bookmark 10" time="94816.48209999999"/>
                    <p14:bmk name="Bookmark 11" time="108436.1897"/>
                  </p14:bmkLst>
                </p14:media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35319" y="1812627"/>
            <a:ext cx="7636690" cy="263519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420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Revolutionizing Agriculture Through Data - visual selection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0125" y="4096061"/>
            <a:ext cx="6130878" cy="3685321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10849540" y="5892332"/>
            <a:ext cx="1091821" cy="849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10849540" y="4435522"/>
            <a:ext cx="1091821" cy="8493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10849540" y="2975214"/>
            <a:ext cx="1091821" cy="91439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10849540" y="1422972"/>
            <a:ext cx="1091821" cy="8630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7313386" y="3643954"/>
            <a:ext cx="1091821" cy="88028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7328848" y="2620370"/>
            <a:ext cx="1091821" cy="6687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9773" y="-94724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u="sng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51973" y="1500"/>
            <a:ext cx="1788666" cy="128845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7CDCEC-A42D-3BFB-7AB2-B90CCCE3BA67}"/>
              </a:ext>
            </a:extLst>
          </p:cNvPr>
          <p:cNvSpPr txBox="1"/>
          <p:nvPr/>
        </p:nvSpPr>
        <p:spPr>
          <a:xfrm>
            <a:off x="3445506" y="165500"/>
            <a:ext cx="4741333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  <a:endParaRPr lang="en-AU" sz="2800" b="1" u="sng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1511" y="1500"/>
            <a:ext cx="2249850" cy="106233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FDBE14E-5111-D3AD-044F-03E4CED0E76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136" y="191588"/>
            <a:ext cx="1180339" cy="920375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2235200" y="756176"/>
            <a:ext cx="7226300" cy="351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Methodology and Implementation Process with Tech Stack</a:t>
            </a:r>
          </a:p>
        </p:txBody>
      </p:sp>
      <p:pic>
        <p:nvPicPr>
          <p:cNvPr id="28" name="Picture 27" descr="Two-brain, never-blocking design - visual selection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31252" y="1190012"/>
            <a:ext cx="7182688" cy="404026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125053" y="1300140"/>
            <a:ext cx="5115684" cy="52866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Two Brain, Never Blocking Design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13" y="5104264"/>
            <a:ext cx="5730212" cy="43672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Revolutionizing Agriculture Through Data</a:t>
            </a:r>
          </a:p>
        </p:txBody>
      </p:sp>
      <p:pic>
        <p:nvPicPr>
          <p:cNvPr id="36" name="Picture 35" descr="AgriShield 365 - visual selection (3)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9427" y="1048276"/>
            <a:ext cx="11384830" cy="5985152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4791309" y="2088109"/>
            <a:ext cx="2331953" cy="296156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Data flows through emerald and navy dashed paths, connecting real-time weather from Open- Meteo and domain logic from ICAR/TNAU/FAO-56 to provide a seamless agricultural monitoring experience.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90554" y="4735771"/>
            <a:ext cx="3533244" cy="1985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98017" y="1122716"/>
            <a:ext cx="2884837" cy="1265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8" name="Pentagon 47"/>
          <p:cNvSpPr/>
          <p:nvPr/>
        </p:nvSpPr>
        <p:spPr>
          <a:xfrm>
            <a:off x="5617026" y="1289956"/>
            <a:ext cx="2079393" cy="675704"/>
          </a:xfrm>
          <a:prstGeom prst="homePlate">
            <a:avLst/>
          </a:prstGeom>
          <a:solidFill>
            <a:schemeClr val="bg2">
              <a:lumMod val="2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Dark Themed Dashboard</a:t>
            </a:r>
          </a:p>
        </p:txBody>
      </p:sp>
      <p:sp>
        <p:nvSpPr>
          <p:cNvPr id="49" name="Right Arrow Callout 48"/>
          <p:cNvSpPr/>
          <p:nvPr/>
        </p:nvSpPr>
        <p:spPr>
          <a:xfrm>
            <a:off x="5909481" y="5468421"/>
            <a:ext cx="1281073" cy="1224029"/>
          </a:xfrm>
          <a:prstGeom prst="rightArrowCallou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Light Themed Dash-board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Image 19" descr="preencoded.png">
            <a:extLst>
              <a:ext uri="{FF2B5EF4-FFF2-40B4-BE49-F238E27FC236}">
                <a16:creationId xmlns:a16="http://schemas.microsoft.com/office/drawing/2014/main" id="{476D7858-0B4A-0BEF-D358-97A96831A172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9194" y="2447236"/>
            <a:ext cx="1091821" cy="10833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35"/>
          <p:cNvSpPr/>
          <p:nvPr/>
        </p:nvSpPr>
        <p:spPr>
          <a:xfrm>
            <a:off x="2001608" y="1234542"/>
            <a:ext cx="8188783" cy="1007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5" algn="ctr" defTabSz="457200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 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Turning Data into Action     ●      Supporting Farmers    ●     Building a Sustainable Future     </a:t>
            </a:r>
            <a:endParaRPr lang="en-US" sz="3200" b="1" dirty="0">
              <a:solidFill>
                <a:schemeClr val="accent3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3600" dirty="0">
              <a:solidFill>
                <a:schemeClr val="accent3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7767684" y="1244832"/>
            <a:ext cx="3581400" cy="58467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Rectangle 131"/>
          <p:cNvSpPr/>
          <p:nvPr/>
        </p:nvSpPr>
        <p:spPr>
          <a:xfrm>
            <a:off x="3931980" y="1239743"/>
            <a:ext cx="3700552" cy="415889"/>
          </a:xfrm>
          <a:prstGeom prst="rect">
            <a:avLst/>
          </a:prstGeom>
          <a:solidFill>
            <a:srgbClr val="96BC9D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1" name="Rectangle 130"/>
          <p:cNvSpPr/>
          <p:nvPr/>
        </p:nvSpPr>
        <p:spPr>
          <a:xfrm>
            <a:off x="137220" y="4625040"/>
            <a:ext cx="3570936" cy="212457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Rectangle 129"/>
          <p:cNvSpPr/>
          <p:nvPr/>
        </p:nvSpPr>
        <p:spPr>
          <a:xfrm>
            <a:off x="137220" y="4033303"/>
            <a:ext cx="3611880" cy="5619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Rectangle 128"/>
          <p:cNvSpPr/>
          <p:nvPr/>
        </p:nvSpPr>
        <p:spPr>
          <a:xfrm>
            <a:off x="178164" y="1774368"/>
            <a:ext cx="3570936" cy="212168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Rectangle 127"/>
          <p:cNvSpPr/>
          <p:nvPr/>
        </p:nvSpPr>
        <p:spPr>
          <a:xfrm>
            <a:off x="137220" y="1212447"/>
            <a:ext cx="3652824" cy="5619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04284" y="6384489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414884" y="6384489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4856"/>
            <a:ext cx="1532894" cy="11429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073C32-BDA6-A4D4-A0B3-8EF141602FF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055" y="200260"/>
            <a:ext cx="1117862" cy="76458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FFF2804-97A0-79CB-D8B7-79058D3F6D9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9084" y="921129"/>
            <a:ext cx="842916" cy="1146119"/>
          </a:xfrm>
          <a:prstGeom prst="rect">
            <a:avLst/>
          </a:prstGeom>
        </p:spPr>
      </p:pic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164" y="1381448"/>
            <a:ext cx="219456" cy="219456"/>
          </a:xfrm>
          <a:prstGeom prst="rect">
            <a:avLst/>
          </a:prstGeom>
        </p:spPr>
      </p:pic>
      <p:sp>
        <p:nvSpPr>
          <p:cNvPr id="49" name="Text 5"/>
          <p:cNvSpPr txBox="1"/>
          <p:nvPr/>
        </p:nvSpPr>
        <p:spPr>
          <a:xfrm>
            <a:off x="489060" y="1354016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B3D2E"/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FEASIBILITY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324" y="1975264"/>
            <a:ext cx="182880" cy="182880"/>
          </a:xfrm>
          <a:prstGeom prst="rect">
            <a:avLst/>
          </a:prstGeom>
        </p:spPr>
      </p:pic>
      <p:sp>
        <p:nvSpPr>
          <p:cNvPr id="60" name="Text 7"/>
          <p:cNvSpPr txBox="1"/>
          <p:nvPr/>
        </p:nvSpPr>
        <p:spPr>
          <a:xfrm>
            <a:off x="607932" y="193868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Reuses Free Infrastructure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56655D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Firebase, Open-Meteo &amp; PWA hosting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324" y="2432464"/>
            <a:ext cx="182880" cy="182880"/>
          </a:xfrm>
          <a:prstGeom prst="rect">
            <a:avLst/>
          </a:prstGeom>
        </p:spPr>
      </p:pic>
      <p:sp>
        <p:nvSpPr>
          <p:cNvPr id="63" name="Text 8"/>
          <p:cNvSpPr txBox="1"/>
          <p:nvPr/>
        </p:nvSpPr>
        <p:spPr>
          <a:xfrm>
            <a:off x="607932" y="239588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Scalable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56655D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Same app serves one farm or a whole district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324" y="2889664"/>
            <a:ext cx="182880" cy="182880"/>
          </a:xfrm>
          <a:prstGeom prst="rect">
            <a:avLst/>
          </a:prstGeom>
        </p:spPr>
      </p:pic>
      <p:sp>
        <p:nvSpPr>
          <p:cNvPr id="65" name="Text 9"/>
          <p:cNvSpPr txBox="1"/>
          <p:nvPr/>
        </p:nvSpPr>
        <p:spPr>
          <a:xfrm>
            <a:off x="607932" y="285308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Cost-Effective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56655D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Minimal running cost per farmer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324" y="3346864"/>
            <a:ext cx="182880" cy="182880"/>
          </a:xfrm>
          <a:prstGeom prst="rect">
            <a:avLst/>
          </a:prstGeom>
        </p:spPr>
      </p:pic>
      <p:sp>
        <p:nvSpPr>
          <p:cNvPr id="67" name="Text 10"/>
          <p:cNvSpPr txBox="1"/>
          <p:nvPr/>
        </p:nvSpPr>
        <p:spPr>
          <a:xfrm>
            <a:off x="607932" y="331028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Authority-Ready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56655D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Built for agriculture departments &amp; insurers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164" y="4196304"/>
            <a:ext cx="219456" cy="219456"/>
          </a:xfrm>
          <a:prstGeom prst="rect">
            <a:avLst/>
          </a:prstGeom>
        </p:spPr>
      </p:pic>
      <p:sp>
        <p:nvSpPr>
          <p:cNvPr id="69" name="Text 11"/>
          <p:cNvSpPr txBox="1"/>
          <p:nvPr/>
        </p:nvSpPr>
        <p:spPr>
          <a:xfrm>
            <a:off x="489060" y="4191176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B3D2E"/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VIABILITY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324" y="4826220"/>
            <a:ext cx="182880" cy="182880"/>
          </a:xfrm>
          <a:prstGeom prst="rect">
            <a:avLst/>
          </a:prstGeom>
        </p:spPr>
      </p:pic>
      <p:sp>
        <p:nvSpPr>
          <p:cNvPr id="72" name="Text 13"/>
          <p:cNvSpPr txBox="1"/>
          <p:nvPr/>
        </p:nvSpPr>
        <p:spPr>
          <a:xfrm>
            <a:off x="607932" y="4789644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Proven Concept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56655D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Working live app with real farmer flows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3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324" y="5306280"/>
            <a:ext cx="182880" cy="182880"/>
          </a:xfrm>
          <a:prstGeom prst="rect">
            <a:avLst/>
          </a:prstGeom>
        </p:spPr>
      </p:pic>
      <p:sp>
        <p:nvSpPr>
          <p:cNvPr id="74" name="Text 14"/>
          <p:cNvSpPr txBox="1"/>
          <p:nvPr/>
        </p:nvSpPr>
        <p:spPr>
          <a:xfrm>
            <a:off x="607932" y="5269704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Builds Public Trust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56655D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Advice grounded in ICAR/TNAU/FAO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5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324" y="5786340"/>
            <a:ext cx="182880" cy="182880"/>
          </a:xfrm>
          <a:prstGeom prst="rect">
            <a:avLst/>
          </a:prstGeom>
        </p:spPr>
      </p:pic>
      <p:sp>
        <p:nvSpPr>
          <p:cNvPr id="76" name="Text 15"/>
          <p:cNvSpPr txBox="1"/>
          <p:nvPr/>
        </p:nvSpPr>
        <p:spPr>
          <a:xfrm>
            <a:off x="607932" y="5749764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Accountability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56655D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Verifiable alerts and claim records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7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324" y="6266400"/>
            <a:ext cx="182880" cy="182880"/>
          </a:xfrm>
          <a:prstGeom prst="rect">
            <a:avLst/>
          </a:prstGeom>
        </p:spPr>
      </p:pic>
      <p:sp>
        <p:nvSpPr>
          <p:cNvPr id="78" name="Text 16"/>
          <p:cNvSpPr txBox="1"/>
          <p:nvPr/>
        </p:nvSpPr>
        <p:spPr>
          <a:xfrm>
            <a:off x="607932" y="625712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Engagement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56655D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Story onboarding, voice &amp; local languages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9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0220" y="1381448"/>
            <a:ext cx="219456" cy="219456"/>
          </a:xfrm>
          <a:prstGeom prst="rect">
            <a:avLst/>
          </a:prstGeom>
        </p:spPr>
      </p:pic>
      <p:sp>
        <p:nvSpPr>
          <p:cNvPr id="80" name="Text 17"/>
          <p:cNvSpPr txBox="1"/>
          <p:nvPr/>
        </p:nvSpPr>
        <p:spPr>
          <a:xfrm>
            <a:off x="4283820" y="1354016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CHALLENGES → STRATEGIES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" name="Shape 18"/>
          <p:cNvSpPr/>
          <p:nvPr/>
        </p:nvSpPr>
        <p:spPr>
          <a:xfrm>
            <a:off x="3972924" y="1733424"/>
            <a:ext cx="3611880" cy="347472"/>
          </a:xfrm>
          <a:prstGeom prst="roundRect">
            <a:avLst>
              <a:gd name="adj" fmla="val 23529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</p:sp>
      <p:pic>
        <p:nvPicPr>
          <p:cNvPr id="82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82652" y="1792928"/>
            <a:ext cx="164592" cy="164592"/>
          </a:xfrm>
          <a:prstGeom prst="rect">
            <a:avLst/>
          </a:prstGeom>
        </p:spPr>
      </p:pic>
      <p:sp>
        <p:nvSpPr>
          <p:cNvPr id="83" name="Text 19"/>
          <p:cNvSpPr txBox="1"/>
          <p:nvPr/>
        </p:nvSpPr>
        <p:spPr>
          <a:xfrm>
            <a:off x="4338684" y="171977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3A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Patchy village </a:t>
            </a:r>
            <a:r>
              <a:rPr lang="en-US" sz="1600" b="1" dirty="0">
                <a:solidFill>
                  <a:srgbClr val="B03A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internet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" name="Shape 20"/>
          <p:cNvSpPr/>
          <p:nvPr/>
        </p:nvSpPr>
        <p:spPr>
          <a:xfrm>
            <a:off x="3972924" y="2135488"/>
            <a:ext cx="3611880" cy="475488"/>
          </a:xfrm>
          <a:prstGeom prst="roundRect">
            <a:avLst>
              <a:gd name="adj" fmla="val 15385"/>
            </a:avLst>
          </a:prstGeom>
          <a:solidFill>
            <a:srgbClr val="E3F2E8"/>
          </a:solidFill>
          <a:ln/>
        </p:spPr>
      </p:sp>
      <p:sp>
        <p:nvSpPr>
          <p:cNvPr id="85" name="Text 21"/>
          <p:cNvSpPr txBox="1"/>
          <p:nvPr/>
        </p:nvSpPr>
        <p:spPr>
          <a:xfrm>
            <a:off x="4338684" y="2067248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Offline-first PWA; cloud only enriches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Text 22"/>
          <p:cNvSpPr txBox="1"/>
          <p:nvPr/>
        </p:nvSpPr>
        <p:spPr>
          <a:xfrm>
            <a:off x="4027788" y="2067248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7F4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→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Shape 23"/>
          <p:cNvSpPr/>
          <p:nvPr/>
        </p:nvSpPr>
        <p:spPr>
          <a:xfrm>
            <a:off x="3972924" y="2690439"/>
            <a:ext cx="3611880" cy="391113"/>
          </a:xfrm>
          <a:prstGeom prst="roundRect">
            <a:avLst>
              <a:gd name="adj" fmla="val 23529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</p:sp>
      <p:pic>
        <p:nvPicPr>
          <p:cNvPr id="88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82652" y="2816512"/>
            <a:ext cx="164592" cy="164592"/>
          </a:xfrm>
          <a:prstGeom prst="rect">
            <a:avLst/>
          </a:prstGeom>
        </p:spPr>
      </p:pic>
      <p:sp>
        <p:nvSpPr>
          <p:cNvPr id="89" name="Text 24"/>
          <p:cNvSpPr txBox="1"/>
          <p:nvPr/>
        </p:nvSpPr>
        <p:spPr>
          <a:xfrm>
            <a:off x="4338684" y="274336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Cloud AI quota / cost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0" name="Shape 25"/>
          <p:cNvSpPr/>
          <p:nvPr/>
        </p:nvSpPr>
        <p:spPr>
          <a:xfrm>
            <a:off x="3972924" y="3159072"/>
            <a:ext cx="3611880" cy="602688"/>
          </a:xfrm>
          <a:prstGeom prst="roundRect">
            <a:avLst>
              <a:gd name="adj" fmla="val 15385"/>
            </a:avLst>
          </a:prstGeom>
          <a:solidFill>
            <a:srgbClr val="E3F2E8"/>
          </a:solidFill>
          <a:ln/>
        </p:spPr>
      </p:sp>
      <p:sp>
        <p:nvSpPr>
          <p:cNvPr id="91" name="Text 26"/>
          <p:cNvSpPr txBox="1"/>
          <p:nvPr/>
        </p:nvSpPr>
        <p:spPr>
          <a:xfrm>
            <a:off x="4338684" y="3172720"/>
            <a:ext cx="3154680" cy="54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Local engine + offline symptom checker never depend on Gemini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Text 27"/>
          <p:cNvSpPr txBox="1"/>
          <p:nvPr/>
        </p:nvSpPr>
        <p:spPr>
          <a:xfrm>
            <a:off x="4064364" y="321939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7F4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→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Shape 28"/>
          <p:cNvSpPr/>
          <p:nvPr/>
        </p:nvSpPr>
        <p:spPr>
          <a:xfrm>
            <a:off x="3972924" y="3835184"/>
            <a:ext cx="3611880" cy="310896"/>
          </a:xfrm>
          <a:prstGeom prst="roundRect">
            <a:avLst>
              <a:gd name="adj" fmla="val 23529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</p:sp>
      <p:pic>
        <p:nvPicPr>
          <p:cNvPr id="94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82652" y="3921984"/>
            <a:ext cx="164592" cy="164592"/>
          </a:xfrm>
          <a:prstGeom prst="rect">
            <a:avLst/>
          </a:prstGeom>
        </p:spPr>
      </p:pic>
      <p:sp>
        <p:nvSpPr>
          <p:cNvPr id="95" name="Text 29"/>
          <p:cNvSpPr txBox="1"/>
          <p:nvPr/>
        </p:nvSpPr>
        <p:spPr>
          <a:xfrm>
            <a:off x="4464204" y="383518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Low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digital literacy</a:t>
            </a:r>
            <a:endParaRPr lang="en-US" sz="1400" b="1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6" name="Shape 30"/>
          <p:cNvSpPr/>
          <p:nvPr/>
        </p:nvSpPr>
        <p:spPr>
          <a:xfrm>
            <a:off x="3972924" y="4204824"/>
            <a:ext cx="3611880" cy="535208"/>
          </a:xfrm>
          <a:prstGeom prst="roundRect">
            <a:avLst>
              <a:gd name="adj" fmla="val 15385"/>
            </a:avLst>
          </a:prstGeom>
          <a:solidFill>
            <a:srgbClr val="E3F2E8"/>
          </a:solidFill>
          <a:ln/>
        </p:spPr>
      </p:sp>
      <p:sp>
        <p:nvSpPr>
          <p:cNvPr id="97" name="Text 31"/>
          <p:cNvSpPr txBox="1"/>
          <p:nvPr/>
        </p:nvSpPr>
        <p:spPr>
          <a:xfrm>
            <a:off x="4338684" y="422360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4 languages, voice read-aloud + voice </a:t>
            </a:r>
            <a:r>
              <a:rPr lang="en-US" sz="1400" b="1" dirty="0">
                <a:solidFill>
                  <a:srgbClr val="0B3D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questions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8" name="Text 32"/>
          <p:cNvSpPr txBox="1"/>
          <p:nvPr/>
        </p:nvSpPr>
        <p:spPr>
          <a:xfrm>
            <a:off x="4009500" y="4227344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7F4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→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" name="Shape 33"/>
          <p:cNvSpPr/>
          <p:nvPr/>
        </p:nvSpPr>
        <p:spPr>
          <a:xfrm>
            <a:off x="3972924" y="4790528"/>
            <a:ext cx="3611880" cy="310896"/>
          </a:xfrm>
          <a:prstGeom prst="roundRect">
            <a:avLst>
              <a:gd name="adj" fmla="val 23529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</p:sp>
      <p:pic>
        <p:nvPicPr>
          <p:cNvPr id="100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82652" y="4850032"/>
            <a:ext cx="164592" cy="164592"/>
          </a:xfrm>
          <a:prstGeom prst="rect">
            <a:avLst/>
          </a:prstGeom>
        </p:spPr>
      </p:pic>
      <p:sp>
        <p:nvSpPr>
          <p:cNvPr id="101" name="Text 34"/>
          <p:cNvSpPr txBox="1"/>
          <p:nvPr/>
        </p:nvSpPr>
        <p:spPr>
          <a:xfrm>
            <a:off x="4338684" y="474958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Advice trust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Shape 35"/>
          <p:cNvSpPr/>
          <p:nvPr/>
        </p:nvSpPr>
        <p:spPr>
          <a:xfrm>
            <a:off x="3972924" y="5178944"/>
            <a:ext cx="3611880" cy="475488"/>
          </a:xfrm>
          <a:prstGeom prst="roundRect">
            <a:avLst>
              <a:gd name="adj" fmla="val 15385"/>
            </a:avLst>
          </a:prstGeom>
          <a:solidFill>
            <a:srgbClr val="E3F2E8"/>
          </a:solidFill>
          <a:ln/>
        </p:spPr>
      </p:sp>
      <p:sp>
        <p:nvSpPr>
          <p:cNvPr id="103" name="Text 36"/>
          <p:cNvSpPr txBox="1"/>
          <p:nvPr/>
        </p:nvSpPr>
        <p:spPr>
          <a:xfrm>
            <a:off x="4338684" y="5096024"/>
            <a:ext cx="3154680" cy="54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ICAR/TNAU/FAO grounding + KVK disclaimer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Text 37"/>
          <p:cNvSpPr txBox="1"/>
          <p:nvPr/>
        </p:nvSpPr>
        <p:spPr>
          <a:xfrm>
            <a:off x="4050716" y="517832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7F4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→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" name="Shape 38"/>
          <p:cNvSpPr/>
          <p:nvPr/>
        </p:nvSpPr>
        <p:spPr>
          <a:xfrm>
            <a:off x="3972924" y="5726904"/>
            <a:ext cx="3611880" cy="397764"/>
          </a:xfrm>
          <a:prstGeom prst="roundRect">
            <a:avLst>
              <a:gd name="adj" fmla="val 23529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</p:sp>
      <p:pic>
        <p:nvPicPr>
          <p:cNvPr id="106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82652" y="5846320"/>
            <a:ext cx="164592" cy="164592"/>
          </a:xfrm>
          <a:prstGeom prst="rect">
            <a:avLst/>
          </a:prstGeom>
        </p:spPr>
      </p:pic>
      <p:sp>
        <p:nvSpPr>
          <p:cNvPr id="107" name="Text 39"/>
          <p:cNvSpPr txBox="1"/>
          <p:nvPr/>
        </p:nvSpPr>
        <p:spPr>
          <a:xfrm>
            <a:off x="4338684" y="577316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SMS needs billing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8" name="Shape 40"/>
          <p:cNvSpPr/>
          <p:nvPr/>
        </p:nvSpPr>
        <p:spPr>
          <a:xfrm>
            <a:off x="3972924" y="6200336"/>
            <a:ext cx="3611880" cy="559568"/>
          </a:xfrm>
          <a:prstGeom prst="roundRect">
            <a:avLst>
              <a:gd name="adj" fmla="val 15385"/>
            </a:avLst>
          </a:prstGeom>
          <a:solidFill>
            <a:srgbClr val="E3F2E8"/>
          </a:solidFill>
          <a:ln/>
        </p:spPr>
      </p:sp>
      <p:sp>
        <p:nvSpPr>
          <p:cNvPr id="109" name="Text 41"/>
          <p:cNvSpPr txBox="1"/>
          <p:nvPr/>
        </p:nvSpPr>
        <p:spPr>
          <a:xfrm>
            <a:off x="4338684" y="624347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Premium voice/SMS alerts funded via ₹99/month plan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 42"/>
          <p:cNvSpPr txBox="1"/>
          <p:nvPr/>
        </p:nvSpPr>
        <p:spPr>
          <a:xfrm>
            <a:off x="4009500" y="623883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7F4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→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1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76868" y="1381448"/>
            <a:ext cx="219456" cy="219456"/>
          </a:xfrm>
          <a:prstGeom prst="rect">
            <a:avLst/>
          </a:prstGeom>
        </p:spPr>
      </p:pic>
      <p:sp>
        <p:nvSpPr>
          <p:cNvPr id="112" name="Text 43"/>
          <p:cNvSpPr txBox="1"/>
          <p:nvPr/>
        </p:nvSpPr>
        <p:spPr>
          <a:xfrm>
            <a:off x="8178854" y="1438424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B3D2E"/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AGRISHIELD 365 BUSINESS MODEL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3" name="Shape 44"/>
          <p:cNvSpPr/>
          <p:nvPr/>
        </p:nvSpPr>
        <p:spPr>
          <a:xfrm>
            <a:off x="7767684" y="2008484"/>
            <a:ext cx="3776472" cy="115058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6E4DB"/>
            </a:solidFill>
            <a:prstDash val="solid"/>
          </a:ln>
        </p:spPr>
      </p:sp>
      <p:pic>
        <p:nvPicPr>
          <p:cNvPr id="114" name="Image 19" descr="preencoded.png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82286" y="2218536"/>
            <a:ext cx="868680" cy="813103"/>
          </a:xfrm>
          <a:prstGeom prst="rect">
            <a:avLst/>
          </a:prstGeom>
        </p:spPr>
      </p:pic>
      <p:sp>
        <p:nvSpPr>
          <p:cNvPr id="115" name="Text 45"/>
          <p:cNvSpPr txBox="1"/>
          <p:nvPr/>
        </p:nvSpPr>
        <p:spPr>
          <a:xfrm>
            <a:off x="8888126" y="205462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4 Revenue Streams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56655D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Free core alerts for every farmer, funded by premium, B2G, B2B &amp; fintech partners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Shape 46"/>
          <p:cNvSpPr/>
          <p:nvPr/>
        </p:nvSpPr>
        <p:spPr>
          <a:xfrm>
            <a:off x="7767684" y="3240280"/>
            <a:ext cx="1847088" cy="1682496"/>
          </a:xfrm>
          <a:prstGeom prst="roundRect">
            <a:avLst>
              <a:gd name="adj" fmla="val 4348"/>
            </a:avLst>
          </a:prstGeom>
          <a:solidFill>
            <a:schemeClr val="accent3">
              <a:lumMod val="20000"/>
              <a:lumOff val="80000"/>
            </a:schemeClr>
          </a:solidFill>
          <a:ln/>
        </p:spPr>
      </p:sp>
      <p:pic>
        <p:nvPicPr>
          <p:cNvPr id="117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82286" y="3339016"/>
            <a:ext cx="256032" cy="256032"/>
          </a:xfrm>
          <a:prstGeom prst="rect">
            <a:avLst/>
          </a:prstGeom>
        </p:spPr>
      </p:pic>
      <p:sp>
        <p:nvSpPr>
          <p:cNvPr id="118" name="Text 47"/>
          <p:cNvSpPr txBox="1"/>
          <p:nvPr/>
        </p:nvSpPr>
        <p:spPr>
          <a:xfrm>
            <a:off x="7882286" y="3731936"/>
            <a:ext cx="1618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B2C Freemium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56655D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Free core alerts; AI leaf scan &amp; premium voice/SMS alerts at ₹99/month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9" name="Shape 48"/>
          <p:cNvSpPr/>
          <p:nvPr/>
        </p:nvSpPr>
        <p:spPr>
          <a:xfrm>
            <a:off x="9674510" y="3242800"/>
            <a:ext cx="1847088" cy="1682496"/>
          </a:xfrm>
          <a:prstGeom prst="roundRect">
            <a:avLst>
              <a:gd name="adj" fmla="val 4348"/>
            </a:avLst>
          </a:prstGeom>
          <a:solidFill>
            <a:schemeClr val="accent3">
              <a:lumMod val="20000"/>
              <a:lumOff val="80000"/>
            </a:schemeClr>
          </a:solidFill>
          <a:ln/>
        </p:spPr>
      </p:sp>
      <p:pic>
        <p:nvPicPr>
          <p:cNvPr id="120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11670" y="3352664"/>
            <a:ext cx="256032" cy="256032"/>
          </a:xfrm>
          <a:prstGeom prst="rect">
            <a:avLst/>
          </a:prstGeom>
        </p:spPr>
      </p:pic>
      <p:sp>
        <p:nvSpPr>
          <p:cNvPr id="121" name="Text 49"/>
          <p:cNvSpPr txBox="1"/>
          <p:nvPr/>
        </p:nvSpPr>
        <p:spPr>
          <a:xfrm>
            <a:off x="9811670" y="3731936"/>
            <a:ext cx="1618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B2G &amp; Insurance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56655D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Verifies PMFBY claims &amp; water audits — rapid validation of genuine crop-failure claims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" name="Shape 50"/>
          <p:cNvSpPr/>
          <p:nvPr/>
        </p:nvSpPr>
        <p:spPr>
          <a:xfrm>
            <a:off x="7767684" y="5000568"/>
            <a:ext cx="1847088" cy="1682496"/>
          </a:xfrm>
          <a:prstGeom prst="roundRect">
            <a:avLst>
              <a:gd name="adj" fmla="val 4348"/>
            </a:avLst>
          </a:prstGeom>
          <a:solidFill>
            <a:schemeClr val="accent3">
              <a:lumMod val="20000"/>
              <a:lumOff val="80000"/>
            </a:schemeClr>
          </a:solidFill>
          <a:ln/>
        </p:spPr>
      </p:sp>
      <p:pic>
        <p:nvPicPr>
          <p:cNvPr id="123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82286" y="5099304"/>
            <a:ext cx="256032" cy="256032"/>
          </a:xfrm>
          <a:prstGeom prst="rect">
            <a:avLst/>
          </a:prstGeom>
        </p:spPr>
      </p:pic>
      <p:sp>
        <p:nvSpPr>
          <p:cNvPr id="124" name="Text 51"/>
          <p:cNvSpPr txBox="1"/>
          <p:nvPr/>
        </p:nvSpPr>
        <p:spPr>
          <a:xfrm>
            <a:off x="7882286" y="5505872"/>
            <a:ext cx="1618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B2B Agribusiness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56655D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Anonymised disease-outbreak heatmaps to pre-position organic bio-fungicides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5" name="Shape 52"/>
          <p:cNvSpPr/>
          <p:nvPr/>
        </p:nvSpPr>
        <p:spPr>
          <a:xfrm>
            <a:off x="9674510" y="5003088"/>
            <a:ext cx="1847088" cy="1682496"/>
          </a:xfrm>
          <a:prstGeom prst="roundRect">
            <a:avLst>
              <a:gd name="adj" fmla="val 4348"/>
            </a:avLst>
          </a:prstGeom>
          <a:solidFill>
            <a:schemeClr val="accent3">
              <a:lumMod val="20000"/>
              <a:lumOff val="80000"/>
            </a:schemeClr>
          </a:solidFill>
          <a:ln/>
        </p:spPr>
      </p:sp>
      <p:pic>
        <p:nvPicPr>
          <p:cNvPr id="126" name="Image 2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11670" y="5112952"/>
            <a:ext cx="256032" cy="256032"/>
          </a:xfrm>
          <a:prstGeom prst="rect">
            <a:avLst/>
          </a:prstGeom>
        </p:spPr>
      </p:pic>
      <p:sp>
        <p:nvSpPr>
          <p:cNvPr id="127" name="Text 53"/>
          <p:cNvSpPr txBox="1"/>
          <p:nvPr/>
        </p:nvSpPr>
        <p:spPr>
          <a:xfrm>
            <a:off x="9811670" y="5505872"/>
            <a:ext cx="1618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Fintech Partners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56655D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Micro-credit scoring; low-interest crop loans for farmers with crop-loss history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C:\Program Files (x86)\Microsoft Office\MEDIA\CAGCAT10\j0298897.wmf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2139552" y="478186"/>
            <a:ext cx="473860" cy="413908"/>
          </a:xfrm>
          <a:prstGeom prst="rect">
            <a:avLst/>
          </a:prstGeom>
          <a:noFill/>
        </p:spPr>
      </p:pic>
      <p:sp>
        <p:nvSpPr>
          <p:cNvPr id="134" name="Rectangle 133"/>
          <p:cNvSpPr/>
          <p:nvPr/>
        </p:nvSpPr>
        <p:spPr>
          <a:xfrm>
            <a:off x="2565782" y="513751"/>
            <a:ext cx="72452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u="sng" dirty="0">
                <a:solidFill>
                  <a:srgbClr val="FF000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Feasibility &amp; viability of the idea, with strategies to overcome challenges</a:t>
            </a:r>
            <a:endParaRPr lang="en-US" b="1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D0A595-DBE1-3626-8AD5-8AE487E582B1}"/>
              </a:ext>
            </a:extLst>
          </p:cNvPr>
          <p:cNvSpPr/>
          <p:nvPr/>
        </p:nvSpPr>
        <p:spPr>
          <a:xfrm>
            <a:off x="3317717" y="60220"/>
            <a:ext cx="5373511" cy="4715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u="sng" dirty="0">
                <a:solidFill>
                  <a:srgbClr val="7030A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986857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gricultural Impact &amp; Strategic Value - visual selection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1071" y="-141396"/>
            <a:ext cx="5787200" cy="45003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D4F223-B5DA-45C2-35F4-5B2A7F5D9D2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0831" y="-5432"/>
            <a:ext cx="1111233" cy="13739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005942-21C5-4F43-4FB7-503F44A739B6}"/>
              </a:ext>
            </a:extLst>
          </p:cNvPr>
          <p:cNvSpPr txBox="1"/>
          <p:nvPr/>
        </p:nvSpPr>
        <p:spPr>
          <a:xfrm>
            <a:off x="2059405" y="1204781"/>
            <a:ext cx="14966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 Scan to use </a:t>
            </a:r>
            <a:endParaRPr lang="en-AU" sz="16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2C1F8A-76CC-12DF-8849-992AD4DAA2E5}"/>
              </a:ext>
            </a:extLst>
          </p:cNvPr>
          <p:cNvSpPr txBox="1"/>
          <p:nvPr/>
        </p:nvSpPr>
        <p:spPr>
          <a:xfrm>
            <a:off x="10642144" y="4578534"/>
            <a:ext cx="14111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6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B4EDD7-AEFE-D15B-81F7-9C0FCE9E8604}"/>
              </a:ext>
            </a:extLst>
          </p:cNvPr>
          <p:cNvSpPr txBox="1"/>
          <p:nvPr/>
        </p:nvSpPr>
        <p:spPr>
          <a:xfrm>
            <a:off x="3536393" y="163247"/>
            <a:ext cx="4854223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IMPACTS AND BENEFITS</a:t>
            </a:r>
            <a:endParaRPr lang="en-AU" sz="2800" b="1" u="sng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8"/>
          <p:cNvSpPr/>
          <p:nvPr/>
        </p:nvSpPr>
        <p:spPr>
          <a:xfrm>
            <a:off x="5440680" y="1776264"/>
            <a:ext cx="6336792" cy="35054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9525">
            <a:solidFill>
              <a:srgbClr val="D6E4DB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4240" y="1431104"/>
            <a:ext cx="331512" cy="331512"/>
          </a:xfrm>
          <a:prstGeom prst="rect">
            <a:avLst/>
          </a:prstGeom>
        </p:spPr>
      </p:pic>
      <p:sp>
        <p:nvSpPr>
          <p:cNvPr id="16" name="Text 19"/>
          <p:cNvSpPr txBox="1"/>
          <p:nvPr/>
        </p:nvSpPr>
        <p:spPr>
          <a:xfrm>
            <a:off x="5907024" y="1417320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B3D2E"/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POTENTIAL IMPACT ON INDIA'S AGRICULTURE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7" name="Chart 0"/>
          <p:cNvGraphicFramePr/>
          <p:nvPr/>
        </p:nvGraphicFramePr>
        <p:xfrm>
          <a:off x="5440680" y="1776264"/>
          <a:ext cx="6381162" cy="3505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6654" y="5833190"/>
            <a:ext cx="608923" cy="608923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205034" y="5915078"/>
            <a:ext cx="7491919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A530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BREAKTHROUGH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B3D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Major Future Plan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44"/>
          <p:cNvSpPr txBox="1"/>
          <p:nvPr/>
        </p:nvSpPr>
        <p:spPr>
          <a:xfrm>
            <a:off x="10007194" y="5550369"/>
            <a:ext cx="2114301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Arial" pitchFamily="34" charset="0"/>
              <a:buChar char="•"/>
            </a:pPr>
            <a:r>
              <a:rPr lang="en-US" b="1" i="1" dirty="0">
                <a:solidFill>
                  <a:srgbClr val="5C420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Smart Technology.</a:t>
            </a:r>
          </a:p>
          <a:p>
            <a:pPr marL="0" indent="0">
              <a:buFont typeface="Arial" pitchFamily="34" charset="0"/>
              <a:buChar char="•"/>
            </a:pPr>
            <a:r>
              <a:rPr lang="en-US" b="1" i="1" dirty="0">
                <a:solidFill>
                  <a:srgbClr val="5C420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Safer Crops.</a:t>
            </a:r>
          </a:p>
          <a:p>
            <a:pPr marL="0" indent="0">
              <a:buFont typeface="Arial" pitchFamily="34" charset="0"/>
              <a:buChar char="•"/>
            </a:pPr>
            <a:r>
              <a:rPr lang="en-US" b="1" i="1" dirty="0">
                <a:solidFill>
                  <a:srgbClr val="5C420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Sustainable Future</a:t>
            </a:r>
            <a:r>
              <a:rPr lang="en-US" sz="1200" b="1" i="1" dirty="0">
                <a:solidFill>
                  <a:srgbClr val="5C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75" y="1302042"/>
            <a:ext cx="322679" cy="322679"/>
          </a:xfrm>
          <a:prstGeom prst="rect">
            <a:avLst/>
          </a:prstGeom>
        </p:spPr>
      </p:pic>
      <p:pic>
        <p:nvPicPr>
          <p:cNvPr id="29" name="Picture 28" descr="Agricultural Impact &amp; Strategic Value - visual selection (2).png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91071" y="1866874"/>
            <a:ext cx="5787200" cy="4616183"/>
          </a:xfrm>
          <a:prstGeom prst="rect">
            <a:avLst/>
          </a:prstGeom>
        </p:spPr>
      </p:pic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162" y="3346037"/>
            <a:ext cx="405888" cy="405888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3036654" y="685629"/>
            <a:ext cx="594079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u="sng" dirty="0">
                <a:solidFill>
                  <a:srgbClr val="FF000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AgriShield365 —</a:t>
            </a:r>
            <a:r>
              <a:rPr lang="en-US" sz="1600" b="1" u="sng" dirty="0">
                <a:solidFill>
                  <a:srgbClr val="FF000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the Boon of 21st-century India</a:t>
            </a:r>
            <a:r>
              <a:rPr lang="en-US" sz="1600" b="1" dirty="0">
                <a:solidFill>
                  <a:srgbClr val="1E7F4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                                                                                            Estimates grounded in CICR, FAO-56, IMD/TNAU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2F02DD-2E2D-5395-065F-B6F85C09AEA8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80086" y="1500"/>
            <a:ext cx="2341409" cy="1203281"/>
          </a:xfrm>
          <a:prstGeom prst="rect">
            <a:avLst/>
          </a:prstGeom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FD61B8F6-5A9C-A884-2F10-36FD5BE9B91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4856"/>
            <a:ext cx="1668360" cy="128718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B218D8-B052-0F13-DD80-BDAA4F062376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4205" y="299254"/>
            <a:ext cx="1179495" cy="764583"/>
          </a:xfrm>
          <a:prstGeom prst="rect">
            <a:avLst/>
          </a:prstGeom>
        </p:spPr>
      </p:pic>
      <p:pic>
        <p:nvPicPr>
          <p:cNvPr id="6" name="Image 19" descr="preencoded.png">
            <a:extLst>
              <a:ext uri="{FF2B5EF4-FFF2-40B4-BE49-F238E27FC236}">
                <a16:creationId xmlns:a16="http://schemas.microsoft.com/office/drawing/2014/main" id="{70AD967B-CBE7-20B9-DF05-50CB6207F94B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8694" y="81348"/>
            <a:ext cx="1293304" cy="1210560"/>
          </a:xfrm>
          <a:prstGeom prst="rect">
            <a:avLst/>
          </a:prstGeom>
        </p:spPr>
      </p:pic>
      <p:sp>
        <p:nvSpPr>
          <p:cNvPr id="8" name="Rounded Rectangle 32">
            <a:extLst>
              <a:ext uri="{FF2B5EF4-FFF2-40B4-BE49-F238E27FC236}">
                <a16:creationId xmlns:a16="http://schemas.microsoft.com/office/drawing/2014/main" id="{84CA3FC3-39E4-818E-A34C-251B1DBABED0}"/>
              </a:ext>
            </a:extLst>
          </p:cNvPr>
          <p:cNvSpPr/>
          <p:nvPr/>
        </p:nvSpPr>
        <p:spPr>
          <a:xfrm>
            <a:off x="31163" y="1776264"/>
            <a:ext cx="2615030" cy="574759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Farmers</a:t>
            </a:r>
          </a:p>
        </p:txBody>
      </p:sp>
      <p:sp>
        <p:nvSpPr>
          <p:cNvPr id="11" name="Rounded Rectangle 33">
            <a:extLst>
              <a:ext uri="{FF2B5EF4-FFF2-40B4-BE49-F238E27FC236}">
                <a16:creationId xmlns:a16="http://schemas.microsoft.com/office/drawing/2014/main" id="{E9F68190-7463-FA5F-DE84-D1CF99593A67}"/>
              </a:ext>
            </a:extLst>
          </p:cNvPr>
          <p:cNvSpPr/>
          <p:nvPr/>
        </p:nvSpPr>
        <p:spPr>
          <a:xfrm>
            <a:off x="2777067" y="1762616"/>
            <a:ext cx="2615030" cy="58840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Agri-Departments</a:t>
            </a:r>
          </a:p>
        </p:txBody>
      </p:sp>
      <p:sp>
        <p:nvSpPr>
          <p:cNvPr id="12" name="Rounded Rectangle 34">
            <a:extLst>
              <a:ext uri="{FF2B5EF4-FFF2-40B4-BE49-F238E27FC236}">
                <a16:creationId xmlns:a16="http://schemas.microsoft.com/office/drawing/2014/main" id="{B8481641-C042-B936-6DC7-D6C2292C1186}"/>
              </a:ext>
            </a:extLst>
          </p:cNvPr>
          <p:cNvSpPr/>
          <p:nvPr/>
        </p:nvSpPr>
        <p:spPr>
          <a:xfrm>
            <a:off x="31161" y="2502566"/>
            <a:ext cx="2615029" cy="57516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Water Managers</a:t>
            </a:r>
          </a:p>
        </p:txBody>
      </p:sp>
      <p:sp>
        <p:nvSpPr>
          <p:cNvPr id="21" name="Rounded Rectangle 35">
            <a:extLst>
              <a:ext uri="{FF2B5EF4-FFF2-40B4-BE49-F238E27FC236}">
                <a16:creationId xmlns:a16="http://schemas.microsoft.com/office/drawing/2014/main" id="{287587A7-4D94-9045-94C0-15E0E5295348}"/>
              </a:ext>
            </a:extLst>
          </p:cNvPr>
          <p:cNvSpPr/>
          <p:nvPr/>
        </p:nvSpPr>
        <p:spPr>
          <a:xfrm>
            <a:off x="2777066" y="2511395"/>
            <a:ext cx="2615029" cy="58806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Community</a:t>
            </a:r>
          </a:p>
        </p:txBody>
      </p:sp>
      <p:sp>
        <p:nvSpPr>
          <p:cNvPr id="24" name="Rounded Rectangle 36">
            <a:extLst>
              <a:ext uri="{FF2B5EF4-FFF2-40B4-BE49-F238E27FC236}">
                <a16:creationId xmlns:a16="http://schemas.microsoft.com/office/drawing/2014/main" id="{043BEF95-B2D4-FC74-1613-03506F013907}"/>
              </a:ext>
            </a:extLst>
          </p:cNvPr>
          <p:cNvSpPr/>
          <p:nvPr/>
        </p:nvSpPr>
        <p:spPr>
          <a:xfrm>
            <a:off x="31161" y="3842535"/>
            <a:ext cx="2615031" cy="588407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Protect Crops</a:t>
            </a:r>
          </a:p>
        </p:txBody>
      </p:sp>
      <p:sp>
        <p:nvSpPr>
          <p:cNvPr id="25" name="Rounded Rectangle 37">
            <a:extLst>
              <a:ext uri="{FF2B5EF4-FFF2-40B4-BE49-F238E27FC236}">
                <a16:creationId xmlns:a16="http://schemas.microsoft.com/office/drawing/2014/main" id="{1B49531B-73AF-0265-9A32-C95DD4757AC9}"/>
              </a:ext>
            </a:extLst>
          </p:cNvPr>
          <p:cNvSpPr/>
          <p:nvPr/>
        </p:nvSpPr>
        <p:spPr>
          <a:xfrm>
            <a:off x="2777067" y="3835159"/>
            <a:ext cx="2615028" cy="59578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Reduces Irrigation</a:t>
            </a:r>
          </a:p>
        </p:txBody>
      </p:sp>
      <p:sp>
        <p:nvSpPr>
          <p:cNvPr id="28" name="Rounded Rectangle 38">
            <a:extLst>
              <a:ext uri="{FF2B5EF4-FFF2-40B4-BE49-F238E27FC236}">
                <a16:creationId xmlns:a16="http://schemas.microsoft.com/office/drawing/2014/main" id="{76EE7797-99B4-A1A3-90A4-56061DEAC984}"/>
              </a:ext>
            </a:extLst>
          </p:cNvPr>
          <p:cNvSpPr/>
          <p:nvPr/>
        </p:nvSpPr>
        <p:spPr>
          <a:xfrm>
            <a:off x="31163" y="4569239"/>
            <a:ext cx="2615027" cy="62651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Alerts Timely</a:t>
            </a:r>
          </a:p>
        </p:txBody>
      </p:sp>
      <p:sp>
        <p:nvSpPr>
          <p:cNvPr id="32" name="Rounded Rectangle 39">
            <a:extLst>
              <a:ext uri="{FF2B5EF4-FFF2-40B4-BE49-F238E27FC236}">
                <a16:creationId xmlns:a16="http://schemas.microsoft.com/office/drawing/2014/main" id="{81F1D5E2-CB4E-2BD1-6E59-AB8D4ADD8B1E}"/>
              </a:ext>
            </a:extLst>
          </p:cNvPr>
          <p:cNvSpPr/>
          <p:nvPr/>
        </p:nvSpPr>
        <p:spPr>
          <a:xfrm>
            <a:off x="2777067" y="4569239"/>
            <a:ext cx="2615028" cy="62651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Local Languages</a:t>
            </a:r>
          </a:p>
        </p:txBody>
      </p:sp>
      <p:sp>
        <p:nvSpPr>
          <p:cNvPr id="33" name="Shape 42">
            <a:extLst>
              <a:ext uri="{FF2B5EF4-FFF2-40B4-BE49-F238E27FC236}">
                <a16:creationId xmlns:a16="http://schemas.microsoft.com/office/drawing/2014/main" id="{3AABB284-B0C8-2958-1CC0-6DAE802787EC}"/>
              </a:ext>
            </a:extLst>
          </p:cNvPr>
          <p:cNvSpPr/>
          <p:nvPr/>
        </p:nvSpPr>
        <p:spPr>
          <a:xfrm>
            <a:off x="2815873" y="5386741"/>
            <a:ext cx="7011484" cy="1353312"/>
          </a:xfrm>
          <a:prstGeom prst="roundRect">
            <a:avLst>
              <a:gd name="adj" fmla="val 10256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F0D9A8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34" name="Text 43">
            <a:extLst>
              <a:ext uri="{FF2B5EF4-FFF2-40B4-BE49-F238E27FC236}">
                <a16:creationId xmlns:a16="http://schemas.microsoft.com/office/drawing/2014/main" id="{0DF7E45D-AFFB-783B-199B-F412800ECB90}"/>
              </a:ext>
            </a:extLst>
          </p:cNvPr>
          <p:cNvSpPr txBox="1"/>
          <p:nvPr/>
        </p:nvSpPr>
        <p:spPr>
          <a:xfrm>
            <a:off x="3438749" y="5294676"/>
            <a:ext cx="6469986" cy="1508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b="1" dirty="0">
                <a:solidFill>
                  <a:srgbClr val="0B3D2E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KhetiScan — Geospatial Canopy Surveillance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56655D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Satellite NDVI/NDWI (Sentinel-2 / Landsat) spots pest-attacked &amp; waterlogged zones across whole districts before field visits.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5" name="Image 6" descr="preencoded.png">
            <a:extLst>
              <a:ext uri="{FF2B5EF4-FFF2-40B4-BE49-F238E27FC236}">
                <a16:creationId xmlns:a16="http://schemas.microsoft.com/office/drawing/2014/main" id="{F001E85E-D8C1-1092-D2CE-8025E40AD5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7251" y="5839148"/>
            <a:ext cx="460120" cy="460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614108" y="89974"/>
            <a:ext cx="5741678" cy="70151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sz="2800" b="1" u="sng" dirty="0">
                <a:solidFill>
                  <a:srgbClr val="7030A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977877" y="6514915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9550" y="47616"/>
            <a:ext cx="1687992" cy="130209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2816" y="-2757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A04778-D426-77E7-3551-CD7BE70ECDD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034" y="232782"/>
            <a:ext cx="1155844" cy="916014"/>
          </a:xfrm>
          <a:prstGeom prst="rect">
            <a:avLst/>
          </a:prstGeom>
        </p:spPr>
      </p:pic>
      <p:sp>
        <p:nvSpPr>
          <p:cNvPr id="8" name="Hexagon 7"/>
          <p:cNvSpPr/>
          <p:nvPr/>
        </p:nvSpPr>
        <p:spPr>
          <a:xfrm>
            <a:off x="1310865" y="1534880"/>
            <a:ext cx="1303243" cy="1069929"/>
          </a:xfrm>
          <a:prstGeom prst="hexago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/>
          <p:cNvSpPr/>
          <p:nvPr/>
        </p:nvSpPr>
        <p:spPr>
          <a:xfrm>
            <a:off x="2713490" y="1519443"/>
            <a:ext cx="1303243" cy="1062335"/>
          </a:xfrm>
          <a:prstGeom prst="hexag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/>
          <p:cNvSpPr/>
          <p:nvPr/>
        </p:nvSpPr>
        <p:spPr>
          <a:xfrm>
            <a:off x="4107310" y="1516208"/>
            <a:ext cx="1264596" cy="1062335"/>
          </a:xfrm>
          <a:prstGeom prst="hexag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Hexagon 12"/>
          <p:cNvSpPr/>
          <p:nvPr/>
        </p:nvSpPr>
        <p:spPr>
          <a:xfrm>
            <a:off x="5498392" y="1501983"/>
            <a:ext cx="1449438" cy="1037396"/>
          </a:xfrm>
          <a:prstGeom prst="hexag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/>
          <p:cNvSpPr/>
          <p:nvPr/>
        </p:nvSpPr>
        <p:spPr>
          <a:xfrm>
            <a:off x="7085388" y="1469450"/>
            <a:ext cx="1484004" cy="1062335"/>
          </a:xfrm>
          <a:prstGeom prst="hexago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Hexagon 14"/>
          <p:cNvSpPr/>
          <p:nvPr/>
        </p:nvSpPr>
        <p:spPr>
          <a:xfrm>
            <a:off x="8640458" y="1413782"/>
            <a:ext cx="1502747" cy="1062336"/>
          </a:xfrm>
          <a:prstGeom prst="hexag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/>
          <p:cNvSpPr/>
          <p:nvPr/>
        </p:nvSpPr>
        <p:spPr>
          <a:xfrm>
            <a:off x="10264851" y="1376280"/>
            <a:ext cx="1465571" cy="1062336"/>
          </a:xfrm>
          <a:prstGeom prst="hexag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ED01AE-BA9F-95D7-6143-86891464A81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06176" y="1723602"/>
            <a:ext cx="932970" cy="69248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354CEE7-D5C9-FBFE-2EED-587832C4B80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6834" y="1715502"/>
            <a:ext cx="970668" cy="69428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31EE710-6C46-2C8B-2EAB-1D6738B6078D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64719" y="1735536"/>
            <a:ext cx="938390" cy="64861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B563679-491B-4BEC-C7B7-59597CAA7326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7023" y="1703910"/>
            <a:ext cx="1134309" cy="69340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CE3613D-0FE6-3453-4C41-FD2A0FEB4285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45268" y="1570275"/>
            <a:ext cx="997848" cy="83625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C0D9A4AA-9215-0E3A-7EBE-2C869179E30D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1265" y="1570275"/>
            <a:ext cx="1144122" cy="76757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942515DD-D439-FD59-732A-F1CA9C2C356C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9967" y="1477044"/>
            <a:ext cx="915338" cy="860807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D3927A05-63D1-53F5-C3AE-8F820A955E04}"/>
              </a:ext>
            </a:extLst>
          </p:cNvPr>
          <p:cNvSpPr txBox="1"/>
          <p:nvPr/>
        </p:nvSpPr>
        <p:spPr>
          <a:xfrm>
            <a:off x="1622740" y="3578116"/>
            <a:ext cx="10317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14"/>
              </a:rPr>
              <a:t>https://docs.google.com/document/d/12EoHv-kmXrN7Ubei2lQQ972usTdcUed9/edit?usp=sharing&amp;ouid=105708397499206098346&amp;rtpof=true&amp;sd=true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AU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84CD03-0113-DA53-8017-C36C6B1C3A1C}"/>
              </a:ext>
            </a:extLst>
          </p:cNvPr>
          <p:cNvSpPr txBox="1"/>
          <p:nvPr/>
        </p:nvSpPr>
        <p:spPr>
          <a:xfrm>
            <a:off x="5203" y="3512384"/>
            <a:ext cx="1729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00B050"/>
                </a:solidFill>
                <a:latin typeface="Arial Black" panose="020B0A04020102020204" pitchFamily="34" charset="0"/>
              </a:rPr>
              <a:t>Report Link:</a:t>
            </a:r>
            <a:endParaRPr lang="en-AU" b="1" u="sng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F6BDC7-7E01-8A04-B07F-B5DBCFE0CA13}"/>
              </a:ext>
            </a:extLst>
          </p:cNvPr>
          <p:cNvSpPr txBox="1"/>
          <p:nvPr/>
        </p:nvSpPr>
        <p:spPr>
          <a:xfrm>
            <a:off x="1272308" y="2563633"/>
            <a:ext cx="15329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>
                <a:solidFill>
                  <a:srgbClr val="FF0000"/>
                </a:solidFill>
                <a:latin typeface="Georgia" panose="02040502050405020303" pitchFamily="18" charset="0"/>
              </a:rPr>
              <a:t>ICAR</a:t>
            </a:r>
            <a:r>
              <a:rPr lang="en-US" sz="1400" b="1" dirty="0">
                <a:latin typeface="Georgia" panose="02040502050405020303" pitchFamily="18" charset="0"/>
              </a:rPr>
              <a:t>-</a:t>
            </a:r>
            <a:r>
              <a:rPr lang="en-US" sz="1400" b="1" dirty="0"/>
              <a:t> </a:t>
            </a:r>
            <a:br>
              <a:rPr lang="en-US" sz="1400" b="1" dirty="0"/>
            </a:br>
            <a:r>
              <a:rPr lang="en-US" sz="1400" b="1" dirty="0">
                <a:latin typeface="+mj-lt"/>
              </a:rPr>
              <a:t>Research</a:t>
            </a:r>
            <a:r>
              <a:rPr lang="en-US" sz="1400" b="1" dirty="0">
                <a:latin typeface="Georgia" panose="02040502050405020303" pitchFamily="18" charset="0"/>
              </a:rPr>
              <a:t> </a:t>
            </a:r>
            <a:r>
              <a:rPr lang="en-US" sz="1400" b="1" dirty="0"/>
              <a:t>for all 3 crops in details </a:t>
            </a:r>
            <a:endParaRPr lang="en-AU" sz="14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06D0AE-F150-989C-0D64-DD000E5CDF24}"/>
              </a:ext>
            </a:extLst>
          </p:cNvPr>
          <p:cNvSpPr txBox="1"/>
          <p:nvPr/>
        </p:nvSpPr>
        <p:spPr>
          <a:xfrm>
            <a:off x="2777074" y="2539379"/>
            <a:ext cx="13204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>
                <a:solidFill>
                  <a:srgbClr val="FF0000"/>
                </a:solidFill>
                <a:latin typeface="Georgia" panose="02040502050405020303" pitchFamily="18" charset="0"/>
              </a:rPr>
              <a:t>TNAU- </a:t>
            </a:r>
            <a:r>
              <a:rPr lang="en-US" sz="1400" b="1" dirty="0">
                <a:latin typeface="+mj-lt"/>
              </a:rPr>
              <a:t>Research for 8 diseases of all 3 crops </a:t>
            </a:r>
            <a:endParaRPr lang="en-AU" sz="1400" b="1" dirty="0">
              <a:latin typeface="+mj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F0CDADC-3765-990B-2180-4FB5B3025C86}"/>
              </a:ext>
            </a:extLst>
          </p:cNvPr>
          <p:cNvSpPr txBox="1"/>
          <p:nvPr/>
        </p:nvSpPr>
        <p:spPr>
          <a:xfrm>
            <a:off x="4119692" y="2525228"/>
            <a:ext cx="13209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>
                <a:solidFill>
                  <a:srgbClr val="FF0000"/>
                </a:solidFill>
                <a:latin typeface="Georgia" panose="02040502050405020303" pitchFamily="18" charset="0"/>
              </a:rPr>
              <a:t>FAO- </a:t>
            </a:r>
            <a:r>
              <a:rPr lang="en-US" sz="1400" b="1" dirty="0">
                <a:latin typeface="+mj-lt"/>
              </a:rPr>
              <a:t>Research for Kc values</a:t>
            </a:r>
            <a:endParaRPr lang="en-AU" sz="1400" b="1" dirty="0">
              <a:latin typeface="+mj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09BFF6-C922-5024-9EFE-80940020B755}"/>
              </a:ext>
            </a:extLst>
          </p:cNvPr>
          <p:cNvSpPr txBox="1"/>
          <p:nvPr/>
        </p:nvSpPr>
        <p:spPr>
          <a:xfrm>
            <a:off x="5203109" y="2503023"/>
            <a:ext cx="208181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>
                <a:solidFill>
                  <a:srgbClr val="FF0000"/>
                </a:solidFill>
                <a:latin typeface="Georgia" panose="02040502050405020303" pitchFamily="18" charset="0"/>
              </a:rPr>
              <a:t>Gov. of Maharashtra </a:t>
            </a:r>
            <a:r>
              <a:rPr lang="en-US" b="1" dirty="0"/>
              <a:t>(</a:t>
            </a:r>
            <a:r>
              <a:rPr lang="en-US" sz="1400" b="1" dirty="0"/>
              <a:t>Agriculture Dept.)</a:t>
            </a:r>
            <a:br>
              <a:rPr lang="en-US" sz="1400" b="1" dirty="0"/>
            </a:br>
            <a:r>
              <a:rPr lang="en-US" sz="1400" b="1" dirty="0"/>
              <a:t>mainly used for cotton-related research</a:t>
            </a:r>
          </a:p>
          <a:p>
            <a:pPr algn="ctr"/>
            <a:endParaRPr lang="en-AU" sz="14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9883BF7-F56A-BD58-C1C6-8F98D99F062B}"/>
              </a:ext>
            </a:extLst>
          </p:cNvPr>
          <p:cNvSpPr txBox="1"/>
          <p:nvPr/>
        </p:nvSpPr>
        <p:spPr>
          <a:xfrm>
            <a:off x="7085388" y="2463673"/>
            <a:ext cx="157904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>
                <a:solidFill>
                  <a:srgbClr val="FF0000"/>
                </a:solidFill>
                <a:latin typeface="Georgia" panose="02040502050405020303" pitchFamily="18" charset="0"/>
              </a:rPr>
              <a:t>Open Meteo API-</a:t>
            </a:r>
            <a:r>
              <a:rPr lang="en-US" dirty="0"/>
              <a:t> </a:t>
            </a:r>
            <a:r>
              <a:rPr lang="en-US" sz="1400" b="1" dirty="0"/>
              <a:t>Research for Weather Data</a:t>
            </a:r>
            <a:endParaRPr lang="en-AU" sz="14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453116D-7FB1-F8FD-0B6B-73D85C10C137}"/>
              </a:ext>
            </a:extLst>
          </p:cNvPr>
          <p:cNvSpPr txBox="1"/>
          <p:nvPr/>
        </p:nvSpPr>
        <p:spPr>
          <a:xfrm>
            <a:off x="8680119" y="2406526"/>
            <a:ext cx="15239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>
                <a:solidFill>
                  <a:srgbClr val="FF0000"/>
                </a:solidFill>
                <a:latin typeface="Georgia" panose="02040502050405020303" pitchFamily="18" charset="0"/>
              </a:rPr>
              <a:t>JalRakshak</a:t>
            </a:r>
            <a:r>
              <a:rPr lang="en-US" dirty="0"/>
              <a:t>-</a:t>
            </a:r>
            <a:r>
              <a:rPr lang="en-US" sz="1400" b="1" dirty="0"/>
              <a:t>Smart Irrigation</a:t>
            </a:r>
            <a:br>
              <a:rPr lang="en-US" sz="1400" b="1" dirty="0"/>
            </a:br>
            <a:r>
              <a:rPr lang="en-US" sz="1400" b="1" dirty="0"/>
              <a:t>(acts as “The Water Protector”)  </a:t>
            </a:r>
            <a:endParaRPr lang="en-AU" sz="14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197110E-3544-454A-6E11-1D021D38671E}"/>
              </a:ext>
            </a:extLst>
          </p:cNvPr>
          <p:cNvSpPr txBox="1"/>
          <p:nvPr/>
        </p:nvSpPr>
        <p:spPr>
          <a:xfrm>
            <a:off x="10418734" y="2383204"/>
            <a:ext cx="14028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>
                <a:solidFill>
                  <a:srgbClr val="FF0000"/>
                </a:solidFill>
                <a:latin typeface="Georgia" panose="02040502050405020303" pitchFamily="18" charset="0"/>
              </a:rPr>
              <a:t>AgriSaathi-</a:t>
            </a:r>
            <a:r>
              <a:rPr lang="en-US" dirty="0"/>
              <a:t> </a:t>
            </a:r>
            <a:r>
              <a:rPr lang="en-US" sz="1400" b="1" dirty="0"/>
              <a:t>AI Assistant </a:t>
            </a:r>
            <a:br>
              <a:rPr lang="en-US" sz="1400" b="1" dirty="0"/>
            </a:br>
            <a:r>
              <a:rPr lang="en-US" sz="1400" b="1" dirty="0"/>
              <a:t>(turns app into a conversation)</a:t>
            </a:r>
            <a:endParaRPr lang="en-AU" sz="1400" b="1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971E0A19-21F1-B689-9A5D-2175F9FD1F46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27403" y="0"/>
            <a:ext cx="1284051" cy="1332066"/>
          </a:xfrm>
          <a:prstGeom prst="rect">
            <a:avLst/>
          </a:prstGeom>
        </p:spPr>
      </p:pic>
      <p:sp>
        <p:nvSpPr>
          <p:cNvPr id="26" name="Cloud 25">
            <a:extLst>
              <a:ext uri="{FF2B5EF4-FFF2-40B4-BE49-F238E27FC236}">
                <a16:creationId xmlns:a16="http://schemas.microsoft.com/office/drawing/2014/main" id="{C59FCD2E-5476-37E8-D6BA-528DDF14C149}"/>
              </a:ext>
            </a:extLst>
          </p:cNvPr>
          <p:cNvSpPr/>
          <p:nvPr/>
        </p:nvSpPr>
        <p:spPr>
          <a:xfrm>
            <a:off x="78230" y="1477044"/>
            <a:ext cx="1171812" cy="1499241"/>
          </a:xfrm>
          <a:prstGeom prst="cloud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Pillars of</a:t>
            </a:r>
            <a:endParaRPr lang="en-AU" sz="1200" b="1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Image 19" descr="preencoded.png">
            <a:extLst>
              <a:ext uri="{FF2B5EF4-FFF2-40B4-BE49-F238E27FC236}">
                <a16:creationId xmlns:a16="http://schemas.microsoft.com/office/drawing/2014/main" id="{B4E8F971-5F3F-3C7D-8F2D-3C8CD3FC7DD4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7392" y="2192530"/>
            <a:ext cx="450610" cy="447110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639FA5F-8025-62E8-626F-7C7BB6EFE58B}"/>
              </a:ext>
            </a:extLst>
          </p:cNvPr>
          <p:cNvCxnSpPr/>
          <p:nvPr/>
        </p:nvCxnSpPr>
        <p:spPr>
          <a:xfrm>
            <a:off x="69550" y="3493486"/>
            <a:ext cx="121224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FF6EDE2-7C63-5611-0581-8CBF6C43A95E}"/>
              </a:ext>
            </a:extLst>
          </p:cNvPr>
          <p:cNvCxnSpPr/>
          <p:nvPr/>
        </p:nvCxnSpPr>
        <p:spPr>
          <a:xfrm>
            <a:off x="69550" y="3881716"/>
            <a:ext cx="121224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AC76D0F-EA72-CA90-0087-0DFC7A098F37}"/>
              </a:ext>
            </a:extLst>
          </p:cNvPr>
          <p:cNvSpPr txBox="1"/>
          <p:nvPr/>
        </p:nvSpPr>
        <p:spPr>
          <a:xfrm>
            <a:off x="1843877" y="867490"/>
            <a:ext cx="6836242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AGRISHIELD-365 is built upon these primary research sites and references</a:t>
            </a:r>
            <a:endParaRPr lang="en-AU" sz="1600" b="1" u="sng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FCDAA3-B1D3-9CE7-796C-4CFD5F6D07C5}"/>
              </a:ext>
            </a:extLst>
          </p:cNvPr>
          <p:cNvSpPr txBox="1"/>
          <p:nvPr/>
        </p:nvSpPr>
        <p:spPr>
          <a:xfrm>
            <a:off x="78230" y="3973317"/>
            <a:ext cx="9324622" cy="4001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Introducing </a:t>
            </a:r>
            <a:r>
              <a:rPr 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LILLY</a:t>
            </a:r>
            <a:r>
              <a:rPr lang="en-US" sz="200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Our AGRISHIELD-365 deployed as </a:t>
            </a:r>
            <a:r>
              <a:rPr lang="en-AU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Farming Assistant</a:t>
            </a:r>
            <a:r>
              <a:rPr 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AU" sz="20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3F5E5A-BB6D-DD65-9547-B69E51ACFBF0}"/>
              </a:ext>
            </a:extLst>
          </p:cNvPr>
          <p:cNvSpPr txBox="1"/>
          <p:nvPr/>
        </p:nvSpPr>
        <p:spPr>
          <a:xfrm>
            <a:off x="6781332" y="4583289"/>
            <a:ext cx="5332438" cy="21852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hardware as a “Future plan” in a Software project ? </a:t>
            </a:r>
            <a:br>
              <a:rPr lang="en-US" dirty="0"/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r>
              <a:rPr lang="en-A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24×7 –It works all day all night relentlessly. </a:t>
            </a:r>
            <a:br>
              <a:rPr lang="en-A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 plot's data — sensors measure 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field's leaf wetness, soil, canopy — not district-level downloaded weather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Acts, not just advises — can hold the pump itself and verify every liter of water saved. </a:t>
            </a:r>
            <a:endParaRPr lang="en-A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674DD2B-9618-A679-88EC-56545E2E4E03}"/>
              </a:ext>
            </a:extLst>
          </p:cNvPr>
          <p:cNvSpPr txBox="1"/>
          <p:nvPr/>
        </p:nvSpPr>
        <p:spPr>
          <a:xfrm>
            <a:off x="9442073" y="3958403"/>
            <a:ext cx="2789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YouTube video link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17"/>
              </a:rPr>
              <a:t>https://youtu.be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17"/>
              </a:rPr>
              <a:t>/a5vdY3kb6ZQ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A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agrishield-edge-model-lilly-working-demonstration-for-smart-india-hackathon-202_MqZw1uEP">
            <a:hlinkClick r:id="" action="ppaction://media"/>
            <a:extLst>
              <a:ext uri="{FF2B5EF4-FFF2-40B4-BE49-F238E27FC236}">
                <a16:creationId xmlns:a16="http://schemas.microsoft.com/office/drawing/2014/main" id="{5DB9A111-6E90-8298-42D5-40B4BFAC466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78230" y="4384253"/>
            <a:ext cx="6703102" cy="24109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8625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55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9032</TotalTime>
  <Words>828</Words>
  <Application>Microsoft Office PowerPoint</Application>
  <PresentationFormat>Widescreen</PresentationFormat>
  <Paragraphs>124</Paragraphs>
  <Slides>6</Slides>
  <Notes>5</Notes>
  <HiddenSlides>0</HiddenSlides>
  <MMClips>2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ＭＳ Ｐゴシック</vt:lpstr>
      <vt:lpstr>Arial</vt:lpstr>
      <vt:lpstr>Arial Black</vt:lpstr>
      <vt:lpstr>Arial Narrow</vt:lpstr>
      <vt:lpstr>Bodoni MT Black</vt:lpstr>
      <vt:lpstr>Calibri</vt:lpstr>
      <vt:lpstr>Garamond</vt:lpstr>
      <vt:lpstr>Georgia</vt:lpstr>
      <vt:lpstr>Times New Roman</vt:lpstr>
      <vt:lpstr>TradeGothic</vt:lpstr>
      <vt:lpstr>Office Theme</vt:lpstr>
      <vt:lpstr>SMART INDIA HACKATHON 2026</vt:lpstr>
      <vt:lpstr> </vt:lpstr>
      <vt:lpstr>TECHNICAL APPROACH</vt:lpstr>
      <vt:lpstr>PowerPoint Presentation</vt:lpstr>
      <vt:lpstr>PowerPoint Presentation</vt:lpstr>
      <vt:lpstr>RESEARCH  AND REFERENCES</vt:lpstr>
    </vt:vector>
  </TitlesOfParts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ramrounakmukherjee@gmail.com</cp:lastModifiedBy>
  <cp:revision>234</cp:revision>
  <dcterms:created xsi:type="dcterms:W3CDTF">2013-12-12T18:46:50Z</dcterms:created>
  <dcterms:modified xsi:type="dcterms:W3CDTF">2026-09-26T07:51:32Z</dcterms:modified>
</cp:coreProperties>
</file>